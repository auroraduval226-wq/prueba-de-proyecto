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62" r:id="rId6"/>
    <p:sldId id="268" r:id="rId7"/>
    <p:sldId id="259" r:id="rId8"/>
    <p:sldId id="269" r:id="rId9"/>
    <p:sldId id="270" r:id="rId10"/>
    <p:sldId id="272" r:id="rId11"/>
    <p:sldId id="261" r:id="rId12"/>
    <p:sldId id="273" r:id="rId13"/>
    <p:sldId id="274" r:id="rId14"/>
  </p:sldIdLst>
  <p:sldSz cx="12188825" cy="6858000"/>
  <p:notesSz cx="6858000" cy="9144000"/>
  <p:defaultTextStyle>
    <a:defPPr rtl="0">
      <a:defRPr lang="es-mx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 varScale="1">
        <p:scale>
          <a:sx n="72" d="100"/>
          <a:sy n="72" d="100"/>
        </p:scale>
        <p:origin x="660" y="7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429053-DC2A-4342-ADD4-2FD729D91E2C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Haga clic para modificar los estilos de texto del patrón</a:t>
            </a:r>
          </a:p>
          <a:p>
            <a:pPr lvl="1" rtl="0"/>
            <a:r>
              <a:t>Segundo nivel</a:t>
            </a:r>
          </a:p>
          <a:p>
            <a:pPr lvl="2" rtl="0"/>
            <a:r>
              <a:t>Tercer nivel</a:t>
            </a:r>
          </a:p>
          <a:p>
            <a:pPr lvl="3" rtl="0"/>
            <a:r>
              <a:t>Cuarto nivel</a:t>
            </a:r>
          </a:p>
          <a:p>
            <a:pPr lvl="4" rtl="0"/>
            <a:r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EBA5BD7-F043-4D1B-AA17-CD412FC534DE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EBA5BD7-F043-4D1B-AA17-CD412FC534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c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íneas de la parte inferior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b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orma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orma lib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2" name="Marcador de fech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23" name="Marcador de pie de página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Marcador de número de diapositiva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c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c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>
              <a:defRPr sz="5400" b="0" cap="none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pPr rtl="0"/>
            <a:r>
              <a:rPr lang="es-ES"/>
              <a:t>Haga clic en el icono para agregar una imagen</a:t>
            </a:r>
            <a:endParaRPr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íneas de la izqui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b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orma lib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orma lib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s-mx"/>
              <a:t>Haga clic para modificar el estilo de título del patrón</a:t>
            </a:r>
            <a:endParaRPr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s-mx"/>
              <a:t>Editar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 rtl="0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slide" Target="slide10.xml"/><Relationship Id="rId3" Type="http://schemas.openxmlformats.org/officeDocument/2006/relationships/slide" Target="slide5.xml"/><Relationship Id="rId7" Type="http://schemas.openxmlformats.org/officeDocument/2006/relationships/slide" Target="slide7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slide" Target="slide9.xml"/><Relationship Id="rId5" Type="http://schemas.openxmlformats.org/officeDocument/2006/relationships/slide" Target="slide6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MX" sz="6600" dirty="0"/>
              <a:t>T</a:t>
            </a:r>
            <a:r>
              <a:rPr lang="es-mx" sz="6600" dirty="0"/>
              <a:t>OPOLOGIAS DE REDES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MX" dirty="0"/>
              <a:t>E</a:t>
            </a:r>
            <a:r>
              <a:rPr lang="es-mx" dirty="0"/>
              <a:t>MILY CASANOVAS RODRIGUEZ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341884" y="125207"/>
            <a:ext cx="10360501" cy="2664295"/>
          </a:xfrm>
        </p:spPr>
        <p:txBody>
          <a:bodyPr rtlCol="0">
            <a:normAutofit/>
          </a:bodyPr>
          <a:lstStyle/>
          <a:p>
            <a:pPr rtl="0"/>
            <a:r>
              <a:rPr lang="es-MX" sz="2800" dirty="0"/>
              <a:t>Las </a:t>
            </a:r>
            <a:r>
              <a:rPr lang="es-MX" sz="2800" b="1" dirty="0"/>
              <a:t>topologías de red</a:t>
            </a:r>
            <a:r>
              <a:rPr lang="es-MX" sz="2800" dirty="0"/>
              <a:t> son las disposiciones físicas o lógicas de los dispositivos dentro de una red de computadoras. Estas configuraciones determinan cómo se interconectan los dispositivos, cómo se transmiten los datos y cómo se gestionan los recursos de red. La elección de una topología adecuada es crucial para el rendimiento, la escalabilidad y la resiliencia de la red.</a:t>
            </a:r>
            <a:endParaRPr lang="es-mx" sz="2800" dirty="0"/>
          </a:p>
        </p:txBody>
      </p:sp>
      <p:pic>
        <p:nvPicPr>
          <p:cNvPr id="7170" name="Picture 2" descr="Webquest Creator 2">
            <a:extLst>
              <a:ext uri="{FF2B5EF4-FFF2-40B4-BE49-F238E27FC236}">
                <a16:creationId xmlns:a16="http://schemas.microsoft.com/office/drawing/2014/main" id="{3D3810AA-8547-1F49-511B-95E7F5BA2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875" y="2724171"/>
            <a:ext cx="5305074" cy="3978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218882" y="-235746"/>
            <a:ext cx="10360501" cy="1223963"/>
          </a:xfrm>
        </p:spPr>
        <p:txBody>
          <a:bodyPr rtlCol="0"/>
          <a:lstStyle/>
          <a:p>
            <a:pPr rtl="0"/>
            <a:r>
              <a:rPr lang="es-MX" dirty="0"/>
              <a:t>P</a:t>
            </a:r>
            <a:r>
              <a:rPr lang="es-mx" dirty="0"/>
              <a:t>rincipales topolog</a:t>
            </a:r>
            <a:r>
              <a:rPr lang="es-MX" dirty="0"/>
              <a:t>í</a:t>
            </a:r>
            <a:r>
              <a:rPr lang="es-mx" dirty="0"/>
              <a:t>as de red:</a:t>
            </a:r>
            <a:endParaRPr lang="en-US" dirty="0"/>
          </a:p>
        </p:txBody>
      </p:sp>
      <p:sp>
        <p:nvSpPr>
          <p:cNvPr id="14" name="Marcador de contenido 13"/>
          <p:cNvSpPr>
            <a:spLocks noGrp="1"/>
          </p:cNvSpPr>
          <p:nvPr>
            <p:ph idx="1"/>
          </p:nvPr>
        </p:nvSpPr>
        <p:spPr/>
        <p:txBody>
          <a:bodyPr rtlCol="0">
            <a:normAutofit fontScale="62500" lnSpcReduction="20000"/>
          </a:bodyPr>
          <a:lstStyle/>
          <a:p>
            <a:pPr rtl="0"/>
            <a:r>
              <a:rPr lang="es-mx" dirty="0"/>
              <a:t>Topología de Bus</a:t>
            </a:r>
          </a:p>
          <a:p>
            <a:pPr rtl="0"/>
            <a:endParaRPr lang="es-mx" dirty="0"/>
          </a:p>
          <a:p>
            <a:pPr rtl="0"/>
            <a:r>
              <a:rPr lang="es-mx" dirty="0"/>
              <a:t>Topología Estrella</a:t>
            </a:r>
          </a:p>
          <a:p>
            <a:pPr marL="0" indent="0" rtl="0">
              <a:buNone/>
            </a:pPr>
            <a:r>
              <a:rPr lang="es-mx" dirty="0"/>
              <a:t> </a:t>
            </a:r>
          </a:p>
          <a:p>
            <a:pPr rtl="0"/>
            <a:r>
              <a:rPr lang="es-mx" dirty="0"/>
              <a:t>Topología Anillo</a:t>
            </a:r>
          </a:p>
          <a:p>
            <a:pPr marL="0" indent="0" rtl="0">
              <a:buNone/>
            </a:pPr>
            <a:endParaRPr lang="es-mx" dirty="0"/>
          </a:p>
          <a:p>
            <a:pPr rtl="0"/>
            <a:r>
              <a:rPr lang="es-MX" dirty="0"/>
              <a:t>Topología Malla</a:t>
            </a:r>
          </a:p>
          <a:p>
            <a:pPr marL="0" indent="0" rtl="0">
              <a:buNone/>
            </a:pPr>
            <a:endParaRPr lang="es-MX" dirty="0"/>
          </a:p>
          <a:p>
            <a:pPr rtl="0"/>
            <a:r>
              <a:rPr lang="es-MX" dirty="0"/>
              <a:t>Topología Árbol </a:t>
            </a:r>
          </a:p>
          <a:p>
            <a:pPr marL="0" indent="0" rtl="0">
              <a:buNone/>
            </a:pPr>
            <a:endParaRPr lang="es-mx" dirty="0"/>
          </a:p>
          <a:p>
            <a:pPr rtl="0"/>
            <a:r>
              <a:rPr lang="en-US" dirty="0" err="1"/>
              <a:t>Topologia</a:t>
            </a:r>
            <a:r>
              <a:rPr lang="en-US" dirty="0"/>
              <a:t> </a:t>
            </a:r>
            <a:r>
              <a:rPr lang="en-US" dirty="0" err="1"/>
              <a:t>Hibrida</a:t>
            </a:r>
            <a:endParaRPr lang="en-US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Vista general de diapositiva 4">
                <a:extLst>
                  <a:ext uri="{FF2B5EF4-FFF2-40B4-BE49-F238E27FC236}">
                    <a16:creationId xmlns:a16="http://schemas.microsoft.com/office/drawing/2014/main" id="{183BAE2D-B5BC-AABD-048A-57E3308986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47455040"/>
                  </p:ext>
                </p:extLst>
              </p:nvPr>
            </p:nvGraphicFramePr>
            <p:xfrm>
              <a:off x="4648070" y="1209182"/>
              <a:ext cx="1751062" cy="985229"/>
            </p:xfrm>
            <a:graphic>
              <a:graphicData uri="http://schemas.microsoft.com/office/powerpoint/2016/slidezoom">
                <pslz:sldZm>
                  <pslz:sldZmObj sldId="269" cId="2341911148">
                    <pslz:zmPr id="{98D2B558-5BB8-4091-9A99-9DEDD6A90D17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51062" cy="98522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Vista general de diapositiva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83BAE2D-B5BC-AABD-048A-57E3308986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648070" y="1209182"/>
                <a:ext cx="1751062" cy="98522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6" name="Flecha: a la derecha con muesca 5">
            <a:extLst>
              <a:ext uri="{FF2B5EF4-FFF2-40B4-BE49-F238E27FC236}">
                <a16:creationId xmlns:a16="http://schemas.microsoft.com/office/drawing/2014/main" id="{1317693C-CBB6-7FE9-ED19-17B1DA6C1268}"/>
              </a:ext>
            </a:extLst>
          </p:cNvPr>
          <p:cNvSpPr/>
          <p:nvPr/>
        </p:nvSpPr>
        <p:spPr>
          <a:xfrm>
            <a:off x="3549893" y="1672317"/>
            <a:ext cx="864096" cy="43937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80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5E00CFB5-488B-F498-C8DF-083DEA6B1BA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89008535"/>
                  </p:ext>
                </p:extLst>
              </p:nvPr>
            </p:nvGraphicFramePr>
            <p:xfrm>
              <a:off x="6633213" y="1981605"/>
              <a:ext cx="1751062" cy="985229"/>
            </p:xfrm>
            <a:graphic>
              <a:graphicData uri="http://schemas.microsoft.com/office/powerpoint/2016/slidezoom">
                <pslz:sldZm>
                  <pslz:sldZmObj sldId="270" cId="4123189245">
                    <pslz:zmPr id="{47F6D0AA-629D-4CE1-A4CD-E773E6F09BCA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51062" cy="98522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8" name="Vista general de diapositiva 7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5E00CFB5-488B-F498-C8DF-083DEA6B1BA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33213" y="1981605"/>
                <a:ext cx="1751062" cy="98522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9" name="Flecha: a la derecha con muesca 8">
            <a:extLst>
              <a:ext uri="{FF2B5EF4-FFF2-40B4-BE49-F238E27FC236}">
                <a16:creationId xmlns:a16="http://schemas.microsoft.com/office/drawing/2014/main" id="{5766BBD2-7BA7-98AB-8CD4-B85C0614B194}"/>
              </a:ext>
            </a:extLst>
          </p:cNvPr>
          <p:cNvSpPr/>
          <p:nvPr/>
        </p:nvSpPr>
        <p:spPr>
          <a:xfrm>
            <a:off x="3646140" y="2421382"/>
            <a:ext cx="2448272" cy="43937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80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1" name="Vista general de diapositiva 10">
                <a:extLst>
                  <a:ext uri="{FF2B5EF4-FFF2-40B4-BE49-F238E27FC236}">
                    <a16:creationId xmlns:a16="http://schemas.microsoft.com/office/drawing/2014/main" id="{E518675F-9FBD-0444-663B-C9FAA02A997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1221383"/>
                  </p:ext>
                </p:extLst>
              </p:nvPr>
            </p:nvGraphicFramePr>
            <p:xfrm>
              <a:off x="8542139" y="2708425"/>
              <a:ext cx="1872753" cy="1053698"/>
            </p:xfrm>
            <a:graphic>
              <a:graphicData uri="http://schemas.microsoft.com/office/powerpoint/2016/slidezoom">
                <pslz:sldZm>
                  <pslz:sldZmObj sldId="272" cId="1589187869">
                    <pslz:zmPr id="{8BED8D53-EE3D-4422-9D9D-C795B2C35A0C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72753" cy="105369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1" name="Vista general de diapositiva 10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E518675F-9FBD-0444-663B-C9FAA02A997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42139" y="2708425"/>
                <a:ext cx="1872753" cy="105369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Flecha: a la derecha con muesca 11">
            <a:extLst>
              <a:ext uri="{FF2B5EF4-FFF2-40B4-BE49-F238E27FC236}">
                <a16:creationId xmlns:a16="http://schemas.microsoft.com/office/drawing/2014/main" id="{CCA87B10-4DCD-CFDF-4D7C-31B8FBB82389}"/>
              </a:ext>
            </a:extLst>
          </p:cNvPr>
          <p:cNvSpPr/>
          <p:nvPr/>
        </p:nvSpPr>
        <p:spPr>
          <a:xfrm>
            <a:off x="3606348" y="3095810"/>
            <a:ext cx="4672532" cy="46216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80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6" name="Vista general de diapositiva 15">
                <a:extLst>
                  <a:ext uri="{FF2B5EF4-FFF2-40B4-BE49-F238E27FC236}">
                    <a16:creationId xmlns:a16="http://schemas.microsoft.com/office/drawing/2014/main" id="{3C7909B1-01E0-4C74-DD90-E53290E271E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48664102"/>
                  </p:ext>
                </p:extLst>
              </p:nvPr>
            </p:nvGraphicFramePr>
            <p:xfrm>
              <a:off x="4658767" y="3708942"/>
              <a:ext cx="1507188" cy="848014"/>
            </p:xfrm>
            <a:graphic>
              <a:graphicData uri="http://schemas.microsoft.com/office/powerpoint/2016/slidezoom">
                <pslz:sldZm>
                  <pslz:sldZmObj sldId="261" cId="2672039197">
                    <pslz:zmPr id="{9004C0ED-DE76-4A1F-8FBE-B5C9C22E79B2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07188" cy="84801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6" name="Vista general de diapositiva 15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3C7909B1-01E0-4C74-DD90-E53290E271E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58767" y="3708942"/>
                <a:ext cx="1507188" cy="84801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7" name="Flecha: a la derecha con muesca 16">
            <a:extLst>
              <a:ext uri="{FF2B5EF4-FFF2-40B4-BE49-F238E27FC236}">
                <a16:creationId xmlns:a16="http://schemas.microsoft.com/office/drawing/2014/main" id="{6501B525-9391-9176-487C-D2B563896FE7}"/>
              </a:ext>
            </a:extLst>
          </p:cNvPr>
          <p:cNvSpPr/>
          <p:nvPr/>
        </p:nvSpPr>
        <p:spPr>
          <a:xfrm>
            <a:off x="3358108" y="3932933"/>
            <a:ext cx="1055881" cy="408784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80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9" name="Vista general de diapositiva 18">
                <a:extLst>
                  <a:ext uri="{FF2B5EF4-FFF2-40B4-BE49-F238E27FC236}">
                    <a16:creationId xmlns:a16="http://schemas.microsoft.com/office/drawing/2014/main" id="{BEA6278C-D0F8-06CE-C701-0A0FDBF8B92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17102475"/>
                  </p:ext>
                </p:extLst>
              </p:nvPr>
            </p:nvGraphicFramePr>
            <p:xfrm>
              <a:off x="6636561" y="4429739"/>
              <a:ext cx="1751064" cy="985230"/>
            </p:xfrm>
            <a:graphic>
              <a:graphicData uri="http://schemas.microsoft.com/office/powerpoint/2016/slidezoom">
                <pslz:sldZm>
                  <pslz:sldZmObj sldId="273" cId="3474775196">
                    <pslz:zmPr id="{584CB4E1-1FF5-4161-80A1-E153A6F5ECEA}" returnToParent="0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51064" cy="9852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9" name="Vista general de diapositiva 18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BEA6278C-D0F8-06CE-C701-0A0FDBF8B92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36561" y="4429739"/>
                <a:ext cx="1751064" cy="98523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0" name="Flecha: a la derecha con muesca 19">
            <a:extLst>
              <a:ext uri="{FF2B5EF4-FFF2-40B4-BE49-F238E27FC236}">
                <a16:creationId xmlns:a16="http://schemas.microsoft.com/office/drawing/2014/main" id="{FA110F75-CCA7-2AD1-3F34-E9BC7BB93B17}"/>
              </a:ext>
            </a:extLst>
          </p:cNvPr>
          <p:cNvSpPr/>
          <p:nvPr/>
        </p:nvSpPr>
        <p:spPr>
          <a:xfrm>
            <a:off x="3438106" y="4721666"/>
            <a:ext cx="3041024" cy="401376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80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2" name="Vista general de diapositiva 21">
                <a:extLst>
                  <a:ext uri="{FF2B5EF4-FFF2-40B4-BE49-F238E27FC236}">
                    <a16:creationId xmlns:a16="http://schemas.microsoft.com/office/drawing/2014/main" id="{A5E7FCE1-063C-5E25-1F2A-9442C49286A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56782940"/>
                  </p:ext>
                </p:extLst>
              </p:nvPr>
            </p:nvGraphicFramePr>
            <p:xfrm>
              <a:off x="8542139" y="4965189"/>
              <a:ext cx="2103333" cy="1183433"/>
            </p:xfrm>
            <a:graphic>
              <a:graphicData uri="http://schemas.microsoft.com/office/powerpoint/2016/slidezoom">
                <pslz:sldZm>
                  <pslz:sldZmObj sldId="274" cId="2466452673">
                    <pslz:zmPr id="{C4249168-B6E1-495D-A2A8-C107C38AFF8D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03333" cy="118343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2" name="Vista general de diapositiva 21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A5E7FCE1-063C-5E25-1F2A-9442C49286A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42139" y="4965189"/>
                <a:ext cx="2103333" cy="118343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3" name="Flecha: a la derecha con muesca 22">
            <a:extLst>
              <a:ext uri="{FF2B5EF4-FFF2-40B4-BE49-F238E27FC236}">
                <a16:creationId xmlns:a16="http://schemas.microsoft.com/office/drawing/2014/main" id="{E8CE13FC-CABC-37A2-4FF0-AD29D84789E1}"/>
              </a:ext>
            </a:extLst>
          </p:cNvPr>
          <p:cNvSpPr/>
          <p:nvPr/>
        </p:nvSpPr>
        <p:spPr>
          <a:xfrm>
            <a:off x="3549893" y="5661248"/>
            <a:ext cx="4834382" cy="401376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80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 dirty="0"/>
              <a:t>M</a:t>
            </a:r>
            <a:r>
              <a:rPr lang="es-mx" dirty="0"/>
              <a:t>UCHAS GRACIAS POR SU ATENCION</a:t>
            </a: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MX" sz="4800" dirty="0">
                <a:solidFill>
                  <a:schemeClr val="tx2"/>
                </a:solidFill>
              </a:rPr>
              <a:t>TOPOLOGIA DE BUS</a:t>
            </a:r>
            <a:endParaRPr lang="es-mx" sz="4800" dirty="0">
              <a:solidFill>
                <a:schemeClr val="tx2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A4612A-5973-9FC6-71D8-ECE5E150D4C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18883" y="1329500"/>
            <a:ext cx="364737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Todos los dispositivos están conectados a un solo cable (el bus).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BBACE64-8536-F2A6-E79D-D89D17578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424" y="3100318"/>
            <a:ext cx="6301725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MX" altLang="es-MX" b="1" dirty="0">
                <a:solidFill>
                  <a:schemeClr val="tx2"/>
                </a:solidFill>
                <a:latin typeface="Arial" panose="020B0604020202020204" pitchFamily="34" charset="0"/>
              </a:rPr>
              <a:t>Ventajas</a:t>
            </a:r>
            <a:r>
              <a:rPr lang="es-MX" altLang="es-MX" dirty="0">
                <a:solidFill>
                  <a:schemeClr val="tx2"/>
                </a:solidFill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Sencilla de implementar.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Requiere menos cableado.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MX" altLang="es-MX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Desventajas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el cable principal falla, toda la red se cae.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Limitada en la cantidad de dispositivos.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5" descr="Topología de red - Wikipedia, la enciclopedia libre">
            <a:extLst>
              <a:ext uri="{FF2B5EF4-FFF2-40B4-BE49-F238E27FC236}">
                <a16:creationId xmlns:a16="http://schemas.microsoft.com/office/drawing/2014/main" id="{23ED8C83-3FF9-7169-9062-72115660D7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2" y="3276599"/>
            <a:ext cx="1160511" cy="1160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033" name="Picture 9" descr="Topología de red - Wikipedia, la enciclopedia libre">
            <a:extLst>
              <a:ext uri="{FF2B5EF4-FFF2-40B4-BE49-F238E27FC236}">
                <a16:creationId xmlns:a16="http://schemas.microsoft.com/office/drawing/2014/main" id="{F31F2A92-E1CF-D87A-6425-FB60D244C8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857" b="66800"/>
          <a:stretch/>
        </p:blipFill>
        <p:spPr bwMode="auto">
          <a:xfrm>
            <a:off x="7693532" y="886618"/>
            <a:ext cx="3153182" cy="3413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96064" y="-171400"/>
            <a:ext cx="10360501" cy="1223963"/>
          </a:xfrm>
        </p:spPr>
        <p:txBody>
          <a:bodyPr rtlCol="0"/>
          <a:lstStyle/>
          <a:p>
            <a:pPr rtl="0"/>
            <a:r>
              <a:rPr lang="es-mx" dirty="0"/>
              <a:t>TOPOLOGIA ESTRELLA 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B75D47B-A98A-FB31-3D99-3CDC1085A0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Todos los dispositivos están conectados a un dispositivo central (hub o switch).</a:t>
            </a:r>
          </a:p>
        </p:txBody>
      </p:sp>
      <p:pic>
        <p:nvPicPr>
          <p:cNvPr id="2050" name="Picture 2" descr="Qué es una topología de red? - Opiron">
            <a:extLst>
              <a:ext uri="{FF2B5EF4-FFF2-40B4-BE49-F238E27FC236}">
                <a16:creationId xmlns:a16="http://schemas.microsoft.com/office/drawing/2014/main" id="{31CB9E11-7C2C-9AF6-F7EB-A21680D34E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7318548" y="3068960"/>
            <a:ext cx="2897010" cy="295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5559C24F-9DBA-5F56-65FF-2BB1B739D2C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305987" y="1844824"/>
            <a:ext cx="439048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Ventajas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Fácil de agregar o quitar dispositivos.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un cable falla, solo se ve afectado ese dispositivo.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Desventajas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el dispositivo central falla, toda la red se cae.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Requiere más cableado.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669D5-B5E9-C257-96DF-5C7D818C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-243408"/>
            <a:ext cx="10360501" cy="1223963"/>
          </a:xfrm>
        </p:spPr>
        <p:txBody>
          <a:bodyPr>
            <a:normAutofit/>
          </a:bodyPr>
          <a:lstStyle/>
          <a:p>
            <a:r>
              <a:rPr lang="es-MX" sz="4400" dirty="0"/>
              <a:t>TOPOLOGIA ANILLO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090999-9660-1652-CE6C-F39944B0B9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Cada dispositivo está conectado a dos dispositivos adyacentes, formando un círculo.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6D2AF16-A7C5-2769-5C7B-97592488C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883" y="2858453"/>
            <a:ext cx="545973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MX" altLang="es-MX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Ventajas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datos viajan en una dirección, lo que puede evitar colisiones.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Funciona bien para redes pequeñas.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Desventajas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un dispositivo falla, puede afectar toda la 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Más difícil de configurar y mantener.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2" descr="Topología de red - Wikipedia, la enciclopedia libre">
            <a:extLst>
              <a:ext uri="{FF2B5EF4-FFF2-40B4-BE49-F238E27FC236}">
                <a16:creationId xmlns:a16="http://schemas.microsoft.com/office/drawing/2014/main" id="{A4AAAE0D-C56D-4048-0F64-884E8052CF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00" r="67298" b="36000"/>
          <a:stretch/>
        </p:blipFill>
        <p:spPr bwMode="auto">
          <a:xfrm>
            <a:off x="7030516" y="2132856"/>
            <a:ext cx="4058871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18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 rtlCol="0">
            <a:noAutofit/>
          </a:bodyPr>
          <a:lstStyle/>
          <a:p>
            <a:pPr rtl="0"/>
            <a:r>
              <a:rPr lang="es-MX" sz="4400" dirty="0"/>
              <a:t>TOPOLOGIA  DE MALLA</a:t>
            </a:r>
            <a:endParaRPr lang="es-mx" sz="4400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idx="1"/>
          </p:nvPr>
        </p:nvSpPr>
        <p:spPr>
          <a:xfrm>
            <a:off x="1218883" y="1412776"/>
            <a:ext cx="5082740" cy="1203424"/>
          </a:xfrm>
        </p:spPr>
        <p:txBody>
          <a:bodyPr rtlCol="0">
            <a:normAutofit fontScale="70000" lnSpcReduction="20000"/>
          </a:bodyPr>
          <a:lstStyle/>
          <a:p>
            <a:pPr rtl="0"/>
            <a:r>
              <a:rPr lang="es-MX" dirty="0"/>
              <a:t>Cada dispositivo está conectado a varios otros dispositivos, creando múltiples rutas de comunicación.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5F21EA-0FE4-B916-E0AC-0A61DC90F7F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18883" y="3013839"/>
            <a:ext cx="494753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Ventajas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Muy resistente a fallos, ya que hay múltiples caminos para los datos.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 para redes críticas.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Desventajas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Costosa debido al gran número de conexiones.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Difícil de configurar y mantener.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Topología de red - Wikipedia, la enciclopedia libre">
            <a:extLst>
              <a:ext uri="{FF2B5EF4-FFF2-40B4-BE49-F238E27FC236}">
                <a16:creationId xmlns:a16="http://schemas.microsoft.com/office/drawing/2014/main" id="{46C66D0F-B1A0-51E6-B440-6DA906F6185C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63" t="65973" r="30930" b="184"/>
          <a:stretch/>
        </p:blipFill>
        <p:spPr bwMode="auto">
          <a:xfrm>
            <a:off x="7462564" y="2045658"/>
            <a:ext cx="2952328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7AEFA-1F5D-2DAA-50F9-10DAF625C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8"/>
            <a:ext cx="10360501" cy="914400"/>
          </a:xfrm>
        </p:spPr>
        <p:txBody>
          <a:bodyPr>
            <a:normAutofit/>
          </a:bodyPr>
          <a:lstStyle/>
          <a:p>
            <a:r>
              <a:rPr lang="es-MX" sz="4400" dirty="0"/>
              <a:t>TOPOLOGIA DE ARBOL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C11D245-4A76-49FB-9AB2-1D638A199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99133" y="1189038"/>
            <a:ext cx="5311903" cy="1203424"/>
          </a:xfrm>
        </p:spPr>
        <p:txBody>
          <a:bodyPr>
            <a:normAutofit fontScale="77500" lnSpcReduction="20000"/>
          </a:bodyPr>
          <a:lstStyle/>
          <a:p>
            <a:r>
              <a:rPr lang="es-MX" dirty="0"/>
              <a:t>Combina características de la topología estrella y la topología bus, con dispositivos organizados en jerarquías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98B128D-4E51-B8C8-13BA-464520DC1E4C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500707" y="3102374"/>
            <a:ext cx="521032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es-MX" altLang="es-MX" sz="1800" b="1" dirty="0">
                <a:solidFill>
                  <a:schemeClr val="tx2"/>
                </a:solidFill>
                <a:latin typeface="Arial" panose="020B0604020202020204" pitchFamily="34" charset="0"/>
              </a:rPr>
              <a:t>Ventajas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Escalable, fácil de agregar nuevos dispositivos.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Estructura organizada.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Desventajas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el nodo raíz falla, puede afectar a toda la 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Más compleja de implementar.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2" descr="Topología de red - Wikipedia, la enciclopedia libre">
            <a:extLst>
              <a:ext uri="{FF2B5EF4-FFF2-40B4-BE49-F238E27FC236}">
                <a16:creationId xmlns:a16="http://schemas.microsoft.com/office/drawing/2014/main" id="{BF28DA52-D29B-4E79-F38C-41C297BC864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045" r="65371"/>
          <a:stretch/>
        </p:blipFill>
        <p:spPr bwMode="auto">
          <a:xfrm>
            <a:off x="1989956" y="1695059"/>
            <a:ext cx="3698162" cy="414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775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338702-1E84-3C14-294E-1B65E90E4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400" dirty="0"/>
              <a:t>TOPOLOGIA HIBRIDA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732E8D-B012-B97D-6E4C-E3DCA3BE5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Combina dos o más topologías diferentes.</a:t>
            </a:r>
          </a:p>
        </p:txBody>
      </p:sp>
      <p:pic>
        <p:nvPicPr>
          <p:cNvPr id="6146" name="Picture 2" descr="Topología de red - Wikipedia, la enciclopedia libre">
            <a:extLst>
              <a:ext uri="{FF2B5EF4-FFF2-40B4-BE49-F238E27FC236}">
                <a16:creationId xmlns:a16="http://schemas.microsoft.com/office/drawing/2014/main" id="{9CBB3B96-F5C5-7368-25E1-5277C8CDE04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61" b="50228"/>
          <a:stretch/>
        </p:blipFill>
        <p:spPr bwMode="auto">
          <a:xfrm>
            <a:off x="2349996" y="2744169"/>
            <a:ext cx="2070650" cy="3350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6194DE13-72E0-820B-FF42-A1A37D5A8FED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017305" y="2847009"/>
            <a:ext cx="508274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Ventajas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Aprovecha las ventajas de cada topología utilizada.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Muy flexible y escalable.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Desventajas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Puede ser costosa y compleja de gestionar.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implementación y el mantenimiento pueden ser complicados.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452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écnico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líneas de triple circuito (panorámica)</Template>
  <TotalTime>96</TotalTime>
  <Words>403</Words>
  <Application>Microsoft Office PowerPoint</Application>
  <PresentationFormat>Personalizado</PresentationFormat>
  <Paragraphs>71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Técnico 16x9</vt:lpstr>
      <vt:lpstr>TOPOLOGIAS DE REDES</vt:lpstr>
      <vt:lpstr>Las topologías de red son las disposiciones físicas o lógicas de los dispositivos dentro de una red de computadoras. Estas configuraciones determinan cómo se interconectan los dispositivos, cómo se transmiten los datos y cómo se gestionan los recursos de red. La elección de una topología adecuada es crucial para el rendimiento, la escalabilidad y la resiliencia de la red.</vt:lpstr>
      <vt:lpstr>Principales topologías de red:</vt:lpstr>
      <vt:lpstr>MUCHAS GRACIAS POR SU ATENCION</vt:lpstr>
      <vt:lpstr>TOPOLOGIA DE BUS</vt:lpstr>
      <vt:lpstr>TOPOLOGIA ESTRELLA </vt:lpstr>
      <vt:lpstr>TOPOLOGIA ANILLO</vt:lpstr>
      <vt:lpstr>TOPOLOGIA  DE MALLA</vt:lpstr>
      <vt:lpstr>TOPOLOGIA DE ARBOL</vt:lpstr>
      <vt:lpstr>TOPOLOGIA HIBRIDA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PC-3</dc:creator>
  <cp:lastModifiedBy>PC-3</cp:lastModifiedBy>
  <cp:revision>3</cp:revision>
  <dcterms:created xsi:type="dcterms:W3CDTF">2024-10-23T18:48:15Z</dcterms:created>
  <dcterms:modified xsi:type="dcterms:W3CDTF">2024-10-23T20:24:51Z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